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4C9A-AC35-D8CE-870D-A71176633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5A37F-A186-09AD-1543-B2105E401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D66F-06E7-1E69-AEAF-64FFCDEE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FFBE0-C703-262B-98C3-95EE6B1C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D3652-ABB4-E0CC-1F4C-65892B37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55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BF13-2D29-BB1D-3417-AFFFE71F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22961-02A7-94FC-A40C-A23A882F2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257C0-1594-3143-23A4-EAF6A8620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7681A-998C-9CB5-98A4-248FAAEF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EF16-31A6-2C76-7D3C-1D86E1B27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909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421B2-A6FD-996F-7F0E-BF2E8EBE1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4719E-EBCB-E7C2-228D-473E760D3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FBBB-4CB3-4535-6B1B-174F46EF9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B005C-6B32-D079-E10B-65E5E21E1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E0968-65D3-C2F0-C762-D13AA2E9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41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D4C2-B199-DC36-C87A-96720229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CB94-8DA6-15A5-A4CE-12CB483D8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BA485-DAD2-2682-2F26-0B2FEE8B5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CEB38-1CFA-91B1-C07A-73748E92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34EFF-E211-67A8-2521-7C836F142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528BB-D9CE-A6A6-F93D-56C7BAFA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47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81D8-9EDF-8B19-B7D6-DB452E64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57084-0842-9DEE-684F-861AEACF0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E770A-6AFA-20A4-7AB1-3F932D741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F2996-8F13-4A6B-F7DE-F94CC9796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A203C-737B-9049-A949-C11C99206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21210-859A-AE92-53A6-8F6F310B7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3B2C7-AF28-DDC0-F56F-8B1398A1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7FAF8-9782-241B-B11A-1D9BE827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607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AB27-8BC4-2542-2B40-A6F8878A8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8F57-A6FF-5C55-E977-F98AB9E0C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DCEA7-AE27-79CF-C76E-D6B4A6D5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58D23-6E3F-ECA8-E857-0C39C62E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95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736D8-3C5E-A1B5-667B-EA5040E97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98454-A790-BF7F-FE97-1D2D6688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64DCE-56A5-E800-B84D-328C97AA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52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05D7-B7E9-F4D8-FFAC-9497D67A5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0FE6D-648A-54E8-4DCA-3AFC1C6FA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23805-1D55-2B7C-5448-7D7E493D9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BD825-09B5-7A31-16DE-D6FE32B2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24A0B-1966-B015-9B3B-A38C767D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64695-D087-F1E8-BE57-83D9D914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18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7E3A-E646-1985-3654-AFD91C68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FEF66-5BC9-3BB1-7D67-770361347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D02A8-515D-A99A-41D7-9FD64D8C9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9E3AC-63CB-B0AF-1BA4-1D8213C3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169E7-44F6-D175-F26D-E5384AA7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F27AF-6C83-DC97-31B7-33830450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344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CECF-E03C-7B61-4575-A8FA82312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F8B0E-0C3E-1C32-6CD1-F46F6D1C7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DDFFE-C7C8-854E-FBB4-BA9844A8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5D1BD-BC52-3866-5280-DD00E3E9D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ECE0C-BEA5-F823-AB30-09DA5A42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16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EF7B4-1128-67EB-A23A-671FA9E2B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D6A73-8044-08B6-5FAA-2C5CDAAEF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695B6-87FF-BBE6-939B-903F7B48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6212E-CC7B-2D1A-59D5-7017E06B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2F770-623F-B6B7-F1B9-EA7D77EDE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331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8E49AC-DB7E-76ED-BE34-D7BE30924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A3F96-EDDA-CAC6-4662-601371821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23204-8899-7194-7616-28ABFE369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2DD1E-593B-47EF-A0C9-06A838442E0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9E22-6887-D779-0DF8-4F1620F63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D1B9D-D766-6513-3EDA-7A85E4656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74B43-D244-4CB1-AC19-CBA048B308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52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r.ie/news/young-drivers-urged-to-pass-test-now-as-new-learner-permit-rules-approach-1008025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D09C2C-7638-6603-11A4-7CD37404DEE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AF4786-F281-7F31-6DC0-2F696BD27C91}"/>
              </a:ext>
            </a:extLst>
          </p:cNvPr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19803-9327-6869-A7A9-C0DCFF5C9E02}"/>
              </a:ext>
            </a:extLst>
          </p:cNvPr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6BB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37B22F-2A48-7C19-BBCC-EFFFC2BA2AA7}"/>
              </a:ext>
            </a:extLst>
          </p:cNvPr>
          <p:cNvSpPr txBox="1"/>
          <p:nvPr/>
        </p:nvSpPr>
        <p:spPr>
          <a:xfrm>
            <a:off x="762000" y="1397000"/>
            <a:ext cx="7620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 dirty="0">
                <a:solidFill>
                  <a:srgbClr val="0070CC"/>
                </a:solidFill>
                <a:latin typeface="Calibri" panose="020F0502020204030204" pitchFamily="34" charset="0"/>
              </a:rPr>
              <a:t>AGENTFORCE HACKATHON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9619B-97CD-37BF-C1BF-604050D8A30F}"/>
              </a:ext>
            </a:extLst>
          </p:cNvPr>
          <p:cNvSpPr txBox="1"/>
          <p:nvPr/>
        </p:nvSpPr>
        <p:spPr>
          <a:xfrm>
            <a:off x="762000" y="2159000"/>
            <a:ext cx="7620000" cy="97462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6000" b="1">
                <a:solidFill>
                  <a:srgbClr val="FFFFFF"/>
                </a:solidFill>
                <a:latin typeface="Calibri" panose="020F0502020204030204" pitchFamily="34" charset="0"/>
              </a:rPr>
              <a:t>Electra Cars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8ABEB-DB2A-D328-1AF0-9AFF33015049}"/>
              </a:ext>
            </a:extLst>
          </p:cNvPr>
          <p:cNvSpPr txBox="1"/>
          <p:nvPr/>
        </p:nvSpPr>
        <p:spPr>
          <a:xfrm>
            <a:off x="762000" y="3175000"/>
            <a:ext cx="76200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3200" b="1">
                <a:solidFill>
                  <a:srgbClr val="6BB900"/>
                </a:solidFill>
                <a:latin typeface="Calibri" panose="020F0502020204030204" pitchFamily="34" charset="0"/>
              </a:rPr>
              <a:t>AI-Powered Test Drive Booking Agent</a:t>
            </a:r>
            <a:endParaRPr lang="en-IN" sz="3200" b="1">
              <a:solidFill>
                <a:srgbClr val="6BB9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2FA6E-4AAF-01CD-B0B0-B8B1CCA1E2F7}"/>
              </a:ext>
            </a:extLst>
          </p:cNvPr>
          <p:cNvSpPr txBox="1"/>
          <p:nvPr/>
        </p:nvSpPr>
        <p:spPr>
          <a:xfrm>
            <a:off x="762000" y="4318000"/>
            <a:ext cx="7620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>
                <a:solidFill>
                  <a:srgbClr val="CCCCCC"/>
                </a:solidFill>
                <a:latin typeface="Calibri" panose="020F0502020204030204" pitchFamily="34" charset="0"/>
              </a:rPr>
              <a:t>Built on Salesforce Automotive Cloud + Agentforce + Digital Engagement</a:t>
            </a:r>
          </a:p>
        </p:txBody>
      </p:sp>
    </p:spTree>
    <p:extLst>
      <p:ext uri="{BB962C8B-B14F-4D97-AF65-F5344CB8AC3E}">
        <p14:creationId xmlns:p14="http://schemas.microsoft.com/office/powerpoint/2010/main" val="2821707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F7BBAF-654D-D1FF-C3E4-E36A9413509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925AA0-3B9C-E751-F733-A0F9FE539E1F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A9383-DA12-C748-5BF1-5F8CF310AA7A}"/>
              </a:ext>
            </a:extLst>
          </p:cNvPr>
          <p:cNvSpPr txBox="1"/>
          <p:nvPr/>
        </p:nvSpPr>
        <p:spPr>
          <a:xfrm>
            <a:off x="508000" y="152400"/>
            <a:ext cx="8128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0E4AF-D7BA-9C10-AD0B-3D81EB50539E}"/>
              </a:ext>
            </a:extLst>
          </p:cNvPr>
          <p:cNvSpPr txBox="1"/>
          <p:nvPr/>
        </p:nvSpPr>
        <p:spPr>
          <a:xfrm>
            <a:off x="508000" y="1016000"/>
            <a:ext cx="8128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222222"/>
                </a:solidFill>
                <a:latin typeface="Calibri" panose="020F0502020204030204" pitchFamily="34" charset="0"/>
              </a:rPr>
              <a:t>Electra Cars website converts only 1% of visitors into test drives.</a:t>
            </a:r>
            <a:endParaRPr lang="en-IN" sz="2200" b="1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AF6715-3671-E4D1-A82E-A1C732E75230}"/>
              </a:ext>
            </a:extLst>
          </p:cNvPr>
          <p:cNvSpPr/>
          <p:nvPr/>
        </p:nvSpPr>
        <p:spPr>
          <a:xfrm>
            <a:off x="558800" y="1658501"/>
            <a:ext cx="2540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BB9378-D24B-4D03-7E0D-F7B69F5D9B2A}"/>
              </a:ext>
            </a:extLst>
          </p:cNvPr>
          <p:cNvSpPr/>
          <p:nvPr/>
        </p:nvSpPr>
        <p:spPr>
          <a:xfrm>
            <a:off x="508000" y="1905000"/>
            <a:ext cx="2540000" cy="762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EC0A3-9E43-09F1-7B43-9796FD232D6C}"/>
              </a:ext>
            </a:extLst>
          </p:cNvPr>
          <p:cNvSpPr txBox="1"/>
          <p:nvPr/>
        </p:nvSpPr>
        <p:spPr>
          <a:xfrm>
            <a:off x="660400" y="2108200"/>
            <a:ext cx="22352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0070CC"/>
                </a:solidFill>
                <a:latin typeface="Calibri" panose="020F0502020204030204" pitchFamily="34" charset="0"/>
              </a:rPr>
              <a:t>High Friction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A0644-34A5-F943-637A-94C913E226F7}"/>
              </a:ext>
            </a:extLst>
          </p:cNvPr>
          <p:cNvSpPr txBox="1"/>
          <p:nvPr/>
        </p:nvSpPr>
        <p:spPr>
          <a:xfrm>
            <a:off x="660400" y="2667000"/>
            <a:ext cx="2235200" cy="103618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222222"/>
                </a:solidFill>
                <a:latin typeface="Calibri" panose="020F0502020204030204" pitchFamily="34" charset="0"/>
              </a:rPr>
              <a:t>Long manual form drives drop-off before the customer reveals their intent.</a:t>
            </a:r>
            <a:endParaRPr lang="en-IN" sz="16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19FA4E-AB9E-E324-7AA2-8C599201EA54}"/>
              </a:ext>
            </a:extLst>
          </p:cNvPr>
          <p:cNvSpPr/>
          <p:nvPr/>
        </p:nvSpPr>
        <p:spPr>
          <a:xfrm>
            <a:off x="3314700" y="1658501"/>
            <a:ext cx="2540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3EC7AD-7E65-F3EC-EC9B-26F2531CA50D}"/>
              </a:ext>
            </a:extLst>
          </p:cNvPr>
          <p:cNvSpPr/>
          <p:nvPr/>
        </p:nvSpPr>
        <p:spPr>
          <a:xfrm>
            <a:off x="3314700" y="1905000"/>
            <a:ext cx="2540000" cy="762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1235E-9142-B560-62A2-BD0D0374DC1B}"/>
              </a:ext>
            </a:extLst>
          </p:cNvPr>
          <p:cNvSpPr txBox="1"/>
          <p:nvPr/>
        </p:nvSpPr>
        <p:spPr>
          <a:xfrm>
            <a:off x="3441700" y="2115743"/>
            <a:ext cx="22352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0070CC"/>
                </a:solidFill>
                <a:latin typeface="Calibri" panose="020F0502020204030204" pitchFamily="34" charset="0"/>
              </a:rPr>
              <a:t>Low Conversion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AF9663-1163-5B6B-50BC-F2AB4AA23DBA}"/>
              </a:ext>
            </a:extLst>
          </p:cNvPr>
          <p:cNvSpPr txBox="1"/>
          <p:nvPr/>
        </p:nvSpPr>
        <p:spPr>
          <a:xfrm>
            <a:off x="3454400" y="2667000"/>
            <a:ext cx="2235200" cy="789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222222"/>
                </a:solidFill>
                <a:latin typeface="Calibri" panose="020F0502020204030204" pitchFamily="34" charset="0"/>
              </a:rPr>
              <a:t>99% of leads never reach a dealership conversation.</a:t>
            </a:r>
            <a:endParaRPr lang="en-IN" sz="16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DC4053-7D6C-74F7-2C10-04C7232957C7}"/>
              </a:ext>
            </a:extLst>
          </p:cNvPr>
          <p:cNvSpPr/>
          <p:nvPr/>
        </p:nvSpPr>
        <p:spPr>
          <a:xfrm>
            <a:off x="6070600" y="1658501"/>
            <a:ext cx="2540000" cy="254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0A8AA-C1A8-C5D2-430F-56BB72ACDC83}"/>
              </a:ext>
            </a:extLst>
          </p:cNvPr>
          <p:cNvSpPr/>
          <p:nvPr/>
        </p:nvSpPr>
        <p:spPr>
          <a:xfrm>
            <a:off x="6096000" y="1905000"/>
            <a:ext cx="2540000" cy="762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A7EAA9-DD4B-280A-CF96-CD4E8B4115CD}"/>
              </a:ext>
            </a:extLst>
          </p:cNvPr>
          <p:cNvSpPr txBox="1"/>
          <p:nvPr/>
        </p:nvSpPr>
        <p:spPr>
          <a:xfrm>
            <a:off x="6248400" y="2108200"/>
            <a:ext cx="22352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0070CC"/>
                </a:solidFill>
                <a:latin typeface="Calibri" panose="020F0502020204030204" pitchFamily="34" charset="0"/>
              </a:rPr>
              <a:t>Manual Bottlenecks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5E3EE4-9376-D8BA-74BF-CCE5D197703E}"/>
              </a:ext>
            </a:extLst>
          </p:cNvPr>
          <p:cNvSpPr txBox="1"/>
          <p:nvPr/>
        </p:nvSpPr>
        <p:spPr>
          <a:xfrm>
            <a:off x="6248400" y="2667000"/>
            <a:ext cx="2235200" cy="789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>
                <a:solidFill>
                  <a:srgbClr val="222222"/>
                </a:solidFill>
                <a:latin typeface="Calibri" panose="020F0502020204030204" pitchFamily="34" charset="0"/>
              </a:rPr>
              <a:t>Call centre teams chase missing details: model, ZIP, time, phone number.</a:t>
            </a:r>
            <a:endParaRPr lang="en-IN" sz="16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D8C9C1-71FB-DDC7-F913-F396D6860156}"/>
              </a:ext>
            </a:extLst>
          </p:cNvPr>
          <p:cNvSpPr txBox="1"/>
          <p:nvPr/>
        </p:nvSpPr>
        <p:spPr>
          <a:xfrm>
            <a:off x="508000" y="4384237"/>
            <a:ext cx="8128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800" b="1" dirty="0">
                <a:solidFill>
                  <a:srgbClr val="666666"/>
                </a:solidFill>
                <a:latin typeface="Calibri" panose="020F0502020204030204" pitchFamily="34" charset="0"/>
              </a:rPr>
              <a:t>Mission: Replace the clunky form with a 2-minute conversational booking experience that any customer can finish on WhatsApp.</a:t>
            </a:r>
            <a:endParaRPr lang="en-IN" sz="1800" b="1" dirty="0">
              <a:solidFill>
                <a:srgbClr val="66666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6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2CA304-BEC9-D4EC-95C5-1FEB094B82D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826170-F627-30A6-8ED9-F2E671AF7D8F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7391D-B29A-F416-3BC6-F2946B568E41}"/>
              </a:ext>
            </a:extLst>
          </p:cNvPr>
          <p:cNvSpPr txBox="1"/>
          <p:nvPr/>
        </p:nvSpPr>
        <p:spPr>
          <a:xfrm>
            <a:off x="508000" y="152400"/>
            <a:ext cx="8128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Solution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899E27-5A91-E2C7-84E0-5002F29C066E}"/>
              </a:ext>
            </a:extLst>
          </p:cNvPr>
          <p:cNvSpPr/>
          <p:nvPr/>
        </p:nvSpPr>
        <p:spPr>
          <a:xfrm>
            <a:off x="500470" y="980102"/>
            <a:ext cx="8128000" cy="635000"/>
          </a:xfrm>
          <a:prstGeom prst="rect">
            <a:avLst/>
          </a:prstGeom>
          <a:solidFill>
            <a:srgbClr val="FDF2E3"/>
          </a:solidFill>
          <a:ln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E34DD7-CCB4-A834-F136-13EBCB74D00D}"/>
              </a:ext>
            </a:extLst>
          </p:cNvPr>
          <p:cNvSpPr txBox="1"/>
          <p:nvPr/>
        </p:nvSpPr>
        <p:spPr>
          <a:xfrm>
            <a:off x="698500" y="1149012"/>
            <a:ext cx="7620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800" b="1" dirty="0">
                <a:solidFill>
                  <a:srgbClr val="222222"/>
                </a:solidFill>
                <a:latin typeface="Calibri" panose="020F0502020204030204" pitchFamily="34" charset="0"/>
              </a:rPr>
              <a:t>Customer Touchpoints  |  WhatsApp (primary)  +  Embedded Website Chat</a:t>
            </a:r>
            <a:endParaRPr lang="en-IN" sz="1800" b="1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7E299-6599-B72C-1892-103DF0DF40B4}"/>
              </a:ext>
            </a:extLst>
          </p:cNvPr>
          <p:cNvSpPr/>
          <p:nvPr/>
        </p:nvSpPr>
        <p:spPr>
          <a:xfrm>
            <a:off x="500470" y="1808972"/>
            <a:ext cx="8128000" cy="800140"/>
          </a:xfrm>
          <a:prstGeom prst="rect">
            <a:avLst/>
          </a:prstGeom>
          <a:solidFill>
            <a:srgbClr val="E9F5E8"/>
          </a:solidFill>
          <a:ln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7E7167-47E6-9B0A-85DE-8BE45223C8B4}"/>
              </a:ext>
            </a:extLst>
          </p:cNvPr>
          <p:cNvSpPr txBox="1"/>
          <p:nvPr/>
        </p:nvSpPr>
        <p:spPr>
          <a:xfrm>
            <a:off x="754470" y="1931194"/>
            <a:ext cx="7620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800" b="1" dirty="0" err="1">
                <a:solidFill>
                  <a:srgbClr val="6BB900"/>
                </a:solidFill>
                <a:latin typeface="Calibri" panose="020F0502020204030204" pitchFamily="34" charset="0"/>
              </a:rPr>
              <a:t>Agentforce</a:t>
            </a:r>
            <a:r>
              <a:rPr lang="en-US" sz="1800" b="1" dirty="0">
                <a:solidFill>
                  <a:srgbClr val="6BB900"/>
                </a:solidFill>
                <a:latin typeface="Calibri" panose="020F0502020204030204" pitchFamily="34" charset="0"/>
              </a:rPr>
              <a:t> Agent  -  Electra Test Drive Assistant  -  Einstein LLM</a:t>
            </a:r>
            <a:endParaRPr lang="en-IN" sz="1800" b="1" dirty="0">
              <a:solidFill>
                <a:srgbClr val="6BB9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FEE9D6-EEF3-11FB-C4AF-5EA4E41C1629}"/>
              </a:ext>
            </a:extLst>
          </p:cNvPr>
          <p:cNvSpPr txBox="1"/>
          <p:nvPr/>
        </p:nvSpPr>
        <p:spPr>
          <a:xfrm>
            <a:off x="698500" y="2297632"/>
            <a:ext cx="7620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4 Topics: Book Test Drive  |  Cancel  |  Reschedule  |  Find My Perfect Electra (Quiz)</a:t>
            </a:r>
            <a:endParaRPr lang="en-IN" sz="14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8DD494-6AF6-FE44-DFE2-222B8276F742}"/>
              </a:ext>
            </a:extLst>
          </p:cNvPr>
          <p:cNvSpPr/>
          <p:nvPr/>
        </p:nvSpPr>
        <p:spPr>
          <a:xfrm>
            <a:off x="500470" y="2802982"/>
            <a:ext cx="8128000" cy="914360"/>
          </a:xfrm>
          <a:prstGeom prst="rect">
            <a:avLst/>
          </a:prstGeom>
          <a:solidFill>
            <a:srgbClr val="E1F8FF"/>
          </a:solidFill>
          <a:ln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0FEA8-BAF0-81E0-3FEF-94FD81F9EAC8}"/>
              </a:ext>
            </a:extLst>
          </p:cNvPr>
          <p:cNvSpPr txBox="1"/>
          <p:nvPr/>
        </p:nvSpPr>
        <p:spPr>
          <a:xfrm>
            <a:off x="754470" y="2860641"/>
            <a:ext cx="7620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800" b="1" dirty="0">
                <a:solidFill>
                  <a:srgbClr val="0051E6"/>
                </a:solidFill>
                <a:latin typeface="Calibri" panose="020F0502020204030204" pitchFamily="34" charset="0"/>
              </a:rPr>
              <a:t>10 Agent Actions (</a:t>
            </a:r>
            <a:r>
              <a:rPr lang="en-US" sz="1800" b="1" dirty="0" err="1">
                <a:solidFill>
                  <a:srgbClr val="0051E6"/>
                </a:solidFill>
                <a:latin typeface="Calibri" panose="020F0502020204030204" pitchFamily="34" charset="0"/>
              </a:rPr>
              <a:t>Autolaunched</a:t>
            </a:r>
            <a:r>
              <a:rPr lang="en-US" sz="1800" b="1" dirty="0">
                <a:solidFill>
                  <a:srgbClr val="0051E6"/>
                </a:solidFill>
                <a:latin typeface="Calibri" panose="020F0502020204030204" pitchFamily="34" charset="0"/>
              </a:rPr>
              <a:t> Flows + Apex)</a:t>
            </a:r>
            <a:endParaRPr lang="en-IN" sz="1800" b="1" dirty="0">
              <a:solidFill>
                <a:srgbClr val="0051E6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BA6CC5-1FC9-2259-816B-014459ED6754}"/>
              </a:ext>
            </a:extLst>
          </p:cNvPr>
          <p:cNvSpPr txBox="1"/>
          <p:nvPr/>
        </p:nvSpPr>
        <p:spPr>
          <a:xfrm>
            <a:off x="754470" y="3208830"/>
            <a:ext cx="7620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GetVehicles</a:t>
            </a:r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 | </a:t>
            </a:r>
            <a:r>
              <a:rPr lang="en-IN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FindDealer</a:t>
            </a:r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 | </a:t>
            </a:r>
            <a:r>
              <a:rPr lang="en-IN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CreateBooking</a:t>
            </a:r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 | </a:t>
            </a:r>
            <a:r>
              <a:rPr lang="en-IN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SendWhatsApp</a:t>
            </a:r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 | OTP Generate/Validate | Lookup | Cancel | Reschedule | Recommend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2D12D1-7E12-9FE9-8053-053868DFFBFA}"/>
              </a:ext>
            </a:extLst>
          </p:cNvPr>
          <p:cNvSpPr/>
          <p:nvPr/>
        </p:nvSpPr>
        <p:spPr>
          <a:xfrm>
            <a:off x="508000" y="3914269"/>
            <a:ext cx="3937000" cy="889000"/>
          </a:xfrm>
          <a:prstGeom prst="rect">
            <a:avLst/>
          </a:prstGeom>
          <a:solidFill>
            <a:srgbClr val="ECE4FC"/>
          </a:solidFill>
          <a:ln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32826C-2B09-97AB-2332-7B1772D8E3E5}"/>
              </a:ext>
            </a:extLst>
          </p:cNvPr>
          <p:cNvSpPr txBox="1"/>
          <p:nvPr/>
        </p:nvSpPr>
        <p:spPr>
          <a:xfrm>
            <a:off x="754470" y="3911212"/>
            <a:ext cx="3429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 dirty="0">
                <a:solidFill>
                  <a:srgbClr val="5B18C2"/>
                </a:solidFill>
                <a:latin typeface="Calibri" panose="020F0502020204030204" pitchFamily="34" charset="0"/>
              </a:rPr>
              <a:t>Automotive Cloud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29986-D8C2-0A9C-BCAA-274331A4ECDB}"/>
              </a:ext>
            </a:extLst>
          </p:cNvPr>
          <p:cNvSpPr txBox="1"/>
          <p:nvPr/>
        </p:nvSpPr>
        <p:spPr>
          <a:xfrm>
            <a:off x="754470" y="4260863"/>
            <a:ext cx="3429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VehicleDefinition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 - Lead - </a:t>
            </a:r>
            <a:r>
              <a:rPr lang="en-US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TestDrive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 - Account (Dealer)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E59526-A9C0-1552-8D5D-A8B9F8C6AE10}"/>
              </a:ext>
            </a:extLst>
          </p:cNvPr>
          <p:cNvSpPr/>
          <p:nvPr/>
        </p:nvSpPr>
        <p:spPr>
          <a:xfrm>
            <a:off x="4564470" y="3914269"/>
            <a:ext cx="3937000" cy="889000"/>
          </a:xfrm>
          <a:prstGeom prst="rect">
            <a:avLst/>
          </a:prstGeom>
          <a:solidFill>
            <a:srgbClr val="F6E7ED"/>
          </a:solidFill>
          <a:ln>
            <a:solidFill>
              <a:srgbClr val="BBB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CBF79-C636-E40B-1C85-88356808855F}"/>
              </a:ext>
            </a:extLst>
          </p:cNvPr>
          <p:cNvSpPr txBox="1"/>
          <p:nvPr/>
        </p:nvSpPr>
        <p:spPr>
          <a:xfrm>
            <a:off x="4686300" y="4210010"/>
            <a:ext cx="3632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 dirty="0">
                <a:solidFill>
                  <a:srgbClr val="A02745"/>
                </a:solidFill>
                <a:latin typeface="Calibri" panose="020F0502020204030204" pitchFamily="34" charset="0"/>
              </a:rPr>
              <a:t>Digital Engagement -&gt; WhatsApp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80CAC9-EDBC-4A84-F1D9-9CCBF9010F7C}"/>
              </a:ext>
            </a:extLst>
          </p:cNvPr>
          <p:cNvSpPr txBox="1"/>
          <p:nvPr/>
        </p:nvSpPr>
        <p:spPr>
          <a:xfrm>
            <a:off x="4851400" y="5156200"/>
            <a:ext cx="36322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Calibri" panose="020F0502020204030204" pitchFamily="34" charset="0"/>
              </a:rPr>
              <a:t>Twilio carrier  -  Meta WhatsApp Business API  -  4 templates</a:t>
            </a:r>
            <a:endParaRPr lang="en-IN" sz="12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23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66C17C-3D3A-56D4-FDBB-502496F3332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92CCD-2067-DCF3-63A3-F69FB56FE5A6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6497A-1DF2-857E-F305-6F91A0EA6523}"/>
              </a:ext>
            </a:extLst>
          </p:cNvPr>
          <p:cNvSpPr txBox="1"/>
          <p:nvPr/>
        </p:nvSpPr>
        <p:spPr>
          <a:xfrm>
            <a:off x="508000" y="152400"/>
            <a:ext cx="8128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What We Built â€” In Detail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90280-ECD7-5EEF-9CFB-4A9067D342A1}"/>
              </a:ext>
            </a:extLst>
          </p:cNvPr>
          <p:cNvSpPr txBox="1"/>
          <p:nvPr/>
        </p:nvSpPr>
        <p:spPr>
          <a:xfrm>
            <a:off x="508000" y="1016000"/>
            <a:ext cx="3937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0070CC"/>
                </a:solidFill>
                <a:latin typeface="Calibri" panose="020F0502020204030204" pitchFamily="34" charset="0"/>
              </a:rPr>
              <a:t>Deliverables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8EB019-2C5D-5849-F2BE-DDFDB5068B2D}"/>
              </a:ext>
            </a:extLst>
          </p:cNvPr>
          <p:cNvSpPr txBox="1"/>
          <p:nvPr/>
        </p:nvSpPr>
        <p:spPr>
          <a:xfrm>
            <a:off x="508000" y="1460500"/>
            <a:ext cx="3937000" cy="245483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>
                <a:solidFill>
                  <a:srgbClr val="222222"/>
                </a:solidFill>
                <a:latin typeface="Calibri" panose="020F0502020204030204" pitchFamily="34" charset="0"/>
              </a:rPr>
              <a:t>4 Agentforce Topics with focused scopes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>
                <a:solidFill>
                  <a:srgbClr val="222222"/>
                </a:solidFill>
                <a:latin typeface="Calibri" panose="020F0502020204030204" pitchFamily="34" charset="0"/>
              </a:rPr>
              <a:t>10 Autolaunched Flows as agent actions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>
                <a:solidFill>
                  <a:srgbClr val="222222"/>
                </a:solidFill>
                <a:latin typeface="Calibri" panose="020F0502020204030204" pitchFamily="34" charset="0"/>
              </a:rPr>
              <a:t>1 cryptographic OTP Apex class (Crypto.getRandomInteger)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>
                <a:solidFill>
                  <a:srgbClr val="222222"/>
                </a:solidFill>
                <a:latin typeface="Calibri" panose="020F0502020204030204" pitchFamily="34" charset="0"/>
              </a:rPr>
              <a:t>21 metadata components deployed via SFDX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>
                <a:solidFill>
                  <a:srgbClr val="222222"/>
                </a:solidFill>
                <a:latin typeface="Calibri" panose="020F0502020204030204" pitchFamily="34" charset="0"/>
              </a:rPr>
              <a:t>1 custom object (TestDrive__c) + 4 lookups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>
                <a:solidFill>
                  <a:srgbClr val="222222"/>
                </a:solidFill>
                <a:latin typeface="Calibri" panose="020F0502020204030204" pitchFamily="34" charset="0"/>
              </a:rPr>
              <a:t>14 custom fields across Lead, Account, VehicleDefinition, TestDrive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2D3A7-E301-544D-BFB4-AA9BAB7C9435}"/>
              </a:ext>
            </a:extLst>
          </p:cNvPr>
          <p:cNvSpPr txBox="1"/>
          <p:nvPr/>
        </p:nvSpPr>
        <p:spPr>
          <a:xfrm>
            <a:off x="4699000" y="1016000"/>
            <a:ext cx="3937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0070CC"/>
                </a:solidFill>
                <a:latin typeface="Calibri" panose="020F0502020204030204" pitchFamily="34" charset="0"/>
              </a:rPr>
              <a:t>Engineering Highlights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D1A66-E732-13EE-8F5A-CB29561159BF}"/>
              </a:ext>
            </a:extLst>
          </p:cNvPr>
          <p:cNvSpPr txBox="1"/>
          <p:nvPr/>
        </p:nvSpPr>
        <p:spPr>
          <a:xfrm>
            <a:off x="4699000" y="1460500"/>
            <a:ext cx="3937000" cy="31981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OTP security: 5-min expiry, 3-attempt lockout, single-use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AI Vehicle Matchmaker with 3-question lifestyle quiz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ZIP-based dealer routing with fallback dealer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Auto-Task creation on Dealer Account for every booking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Idempotent booking  Lead </a:t>
            </a:r>
            <a:r>
              <a:rPr lang="en-IN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upsert</a:t>
            </a: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 by phone (no duplicates)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Permission set isolating agent runtime user privileges</a:t>
            </a:r>
          </a:p>
        </p:txBody>
      </p:sp>
    </p:spTree>
    <p:extLst>
      <p:ext uri="{BB962C8B-B14F-4D97-AF65-F5344CB8AC3E}">
        <p14:creationId xmlns:p14="http://schemas.microsoft.com/office/powerpoint/2010/main" val="107493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33FB78-D020-6F9C-C928-A69E168B4AAC}"/>
              </a:ext>
            </a:extLst>
          </p:cNvPr>
          <p:cNvSpPr/>
          <p:nvPr/>
        </p:nvSpPr>
        <p:spPr>
          <a:xfrm>
            <a:off x="0" y="0"/>
            <a:ext cx="10026032" cy="5143500"/>
          </a:xfrm>
          <a:prstGeom prst="rect">
            <a:avLst/>
          </a:prstGeom>
          <a:solidFill>
            <a:srgbClr val="FAF7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3AB27-C9F9-CA7A-D64E-F50E4DF396CF}"/>
              </a:ext>
            </a:extLst>
          </p:cNvPr>
          <p:cNvSpPr/>
          <p:nvPr/>
        </p:nvSpPr>
        <p:spPr>
          <a:xfrm>
            <a:off x="-1" y="0"/>
            <a:ext cx="10026033" cy="7620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B09E1-9007-B433-A1F2-F3383045BC91}"/>
              </a:ext>
            </a:extLst>
          </p:cNvPr>
          <p:cNvSpPr txBox="1"/>
          <p:nvPr/>
        </p:nvSpPr>
        <p:spPr>
          <a:xfrm>
            <a:off x="508000" y="152400"/>
            <a:ext cx="8128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How We Used Resources Fruitfully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B61C0-7FC8-98DB-2DDF-2E6A7589B09D}"/>
              </a:ext>
            </a:extLst>
          </p:cNvPr>
          <p:cNvSpPr/>
          <p:nvPr/>
        </p:nvSpPr>
        <p:spPr>
          <a:xfrm>
            <a:off x="-2" y="752981"/>
            <a:ext cx="1905000" cy="533400"/>
          </a:xfrm>
          <a:prstGeom prst="rect">
            <a:avLst/>
          </a:prstGeom>
          <a:solidFill>
            <a:srgbClr val="0070CC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6E74D-5E75-1B02-18C0-1282FEF1067F}"/>
              </a:ext>
            </a:extLst>
          </p:cNvPr>
          <p:cNvSpPr txBox="1"/>
          <p:nvPr/>
        </p:nvSpPr>
        <p:spPr>
          <a:xfrm>
            <a:off x="76198" y="796419"/>
            <a:ext cx="1752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b="1" dirty="0">
                <a:solidFill>
                  <a:srgbClr val="FFFFFF"/>
                </a:solidFill>
                <a:latin typeface="Calibri" panose="020F0502020204030204" pitchFamily="34" charset="0"/>
              </a:rPr>
              <a:t>Resource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3427D-2B8A-0A34-4120-5CCEC8E02BFF}"/>
              </a:ext>
            </a:extLst>
          </p:cNvPr>
          <p:cNvSpPr/>
          <p:nvPr/>
        </p:nvSpPr>
        <p:spPr>
          <a:xfrm>
            <a:off x="1904998" y="762000"/>
            <a:ext cx="4064000" cy="533400"/>
          </a:xfrm>
          <a:prstGeom prst="rect">
            <a:avLst/>
          </a:prstGeom>
          <a:solidFill>
            <a:srgbClr val="0070CC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6A814-A13D-F2E9-1298-60454F3454F6}"/>
              </a:ext>
            </a:extLst>
          </p:cNvPr>
          <p:cNvSpPr txBox="1"/>
          <p:nvPr/>
        </p:nvSpPr>
        <p:spPr>
          <a:xfrm>
            <a:off x="2196200" y="827687"/>
            <a:ext cx="3911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b="1" dirty="0">
                <a:solidFill>
                  <a:srgbClr val="FFFFFF"/>
                </a:solidFill>
                <a:latin typeface="Calibri" panose="020F0502020204030204" pitchFamily="34" charset="0"/>
              </a:rPr>
              <a:t>How We Used 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A419F-A5CB-DCAF-9E93-B28A240C886D}"/>
              </a:ext>
            </a:extLst>
          </p:cNvPr>
          <p:cNvSpPr/>
          <p:nvPr/>
        </p:nvSpPr>
        <p:spPr>
          <a:xfrm>
            <a:off x="5968998" y="767766"/>
            <a:ext cx="3810000" cy="533400"/>
          </a:xfrm>
          <a:prstGeom prst="rect">
            <a:avLst/>
          </a:prstGeom>
          <a:solidFill>
            <a:srgbClr val="0070CC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8AABAC-D56A-319A-B315-825F527E2684}"/>
              </a:ext>
            </a:extLst>
          </p:cNvPr>
          <p:cNvSpPr txBox="1"/>
          <p:nvPr/>
        </p:nvSpPr>
        <p:spPr>
          <a:xfrm>
            <a:off x="6107800" y="839127"/>
            <a:ext cx="3657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b="1" dirty="0">
                <a:solidFill>
                  <a:srgbClr val="FFFFFF"/>
                </a:solidFill>
                <a:latin typeface="Calibri" panose="020F0502020204030204" pitchFamily="34" charset="0"/>
              </a:rPr>
              <a:t>Value Delivered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70F098-8FD3-8AAE-00D9-F7827CF7BDFE}"/>
              </a:ext>
            </a:extLst>
          </p:cNvPr>
          <p:cNvSpPr/>
          <p:nvPr/>
        </p:nvSpPr>
        <p:spPr>
          <a:xfrm>
            <a:off x="-3" y="1291719"/>
            <a:ext cx="1905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5F8C21-FA6F-AFB4-1E5D-F54A01DCC05A}"/>
              </a:ext>
            </a:extLst>
          </p:cNvPr>
          <p:cNvSpPr txBox="1"/>
          <p:nvPr/>
        </p:nvSpPr>
        <p:spPr>
          <a:xfrm>
            <a:off x="76198" y="1364238"/>
            <a:ext cx="1752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Automotive Cloud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0023C7-9042-D9C7-B376-FE82BE845248}"/>
              </a:ext>
            </a:extLst>
          </p:cNvPr>
          <p:cNvSpPr/>
          <p:nvPr/>
        </p:nvSpPr>
        <p:spPr>
          <a:xfrm>
            <a:off x="1904997" y="1283209"/>
            <a:ext cx="4064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296DA3-6619-BFB2-832C-2C96F61E1FB4}"/>
              </a:ext>
            </a:extLst>
          </p:cNvPr>
          <p:cNvSpPr txBox="1"/>
          <p:nvPr/>
        </p:nvSpPr>
        <p:spPr>
          <a:xfrm>
            <a:off x="2196200" y="1364238"/>
            <a:ext cx="3911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Reused </a:t>
            </a:r>
            <a:r>
              <a:rPr lang="en-US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VehicleDefinition</a:t>
            </a:r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 + standard Lead/Account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918FB1-49E7-F57A-42C5-C1625FE8BE29}"/>
              </a:ext>
            </a:extLst>
          </p:cNvPr>
          <p:cNvSpPr/>
          <p:nvPr/>
        </p:nvSpPr>
        <p:spPr>
          <a:xfrm>
            <a:off x="5968998" y="1289305"/>
            <a:ext cx="3810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92F45-D807-A7BF-0EEA-8974E95BE709}"/>
              </a:ext>
            </a:extLst>
          </p:cNvPr>
          <p:cNvSpPr txBox="1"/>
          <p:nvPr/>
        </p:nvSpPr>
        <p:spPr>
          <a:xfrm>
            <a:off x="6107800" y="1320043"/>
            <a:ext cx="3657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Zero rebuild industry data model out of the box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AA7CD1-1195-387E-60B5-C23C8E5EB7A2}"/>
              </a:ext>
            </a:extLst>
          </p:cNvPr>
          <p:cNvSpPr/>
          <p:nvPr/>
        </p:nvSpPr>
        <p:spPr>
          <a:xfrm>
            <a:off x="-4" y="1816100"/>
            <a:ext cx="19050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202AA-C363-6660-ABC4-419FB05903C9}"/>
              </a:ext>
            </a:extLst>
          </p:cNvPr>
          <p:cNvSpPr txBox="1"/>
          <p:nvPr/>
        </p:nvSpPr>
        <p:spPr>
          <a:xfrm>
            <a:off x="76198" y="1878868"/>
            <a:ext cx="1752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Agentforce</a:t>
            </a:r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 + LLM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19EC25-966D-B26B-2318-99B53E3EC0AC}"/>
              </a:ext>
            </a:extLst>
          </p:cNvPr>
          <p:cNvSpPr/>
          <p:nvPr/>
        </p:nvSpPr>
        <p:spPr>
          <a:xfrm>
            <a:off x="1904996" y="1802810"/>
            <a:ext cx="40640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BD1F72-C421-ADCB-F62F-042A9CCB80D8}"/>
              </a:ext>
            </a:extLst>
          </p:cNvPr>
          <p:cNvSpPr txBox="1"/>
          <p:nvPr/>
        </p:nvSpPr>
        <p:spPr>
          <a:xfrm>
            <a:off x="2196200" y="1876539"/>
            <a:ext cx="3911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4 focused Topics, 10 typed actions, scoped instructions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549384-C71D-F13C-096F-6A1CB9138B42}"/>
              </a:ext>
            </a:extLst>
          </p:cNvPr>
          <p:cNvSpPr/>
          <p:nvPr/>
        </p:nvSpPr>
        <p:spPr>
          <a:xfrm>
            <a:off x="5968998" y="1794300"/>
            <a:ext cx="38100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C00DB9-7DCE-FD58-DEDF-421EFF0E8EE7}"/>
              </a:ext>
            </a:extLst>
          </p:cNvPr>
          <p:cNvSpPr txBox="1"/>
          <p:nvPr/>
        </p:nvSpPr>
        <p:spPr>
          <a:xfrm>
            <a:off x="6045192" y="1868029"/>
            <a:ext cx="3657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Reliable routing; LLM never hallucinates business logic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59A9B2-8931-3E8A-7DEB-1F5B86B0ECEE}"/>
              </a:ext>
            </a:extLst>
          </p:cNvPr>
          <p:cNvSpPr/>
          <p:nvPr/>
        </p:nvSpPr>
        <p:spPr>
          <a:xfrm>
            <a:off x="-5" y="2357115"/>
            <a:ext cx="1905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568E08-8658-881E-3EE9-13B9B3EA6373}"/>
              </a:ext>
            </a:extLst>
          </p:cNvPr>
          <p:cNvSpPr txBox="1"/>
          <p:nvPr/>
        </p:nvSpPr>
        <p:spPr>
          <a:xfrm>
            <a:off x="76195" y="2441490"/>
            <a:ext cx="1752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Flow Builder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89B18F-F9F5-A78B-359C-2B47E8EDF4F5}"/>
              </a:ext>
            </a:extLst>
          </p:cNvPr>
          <p:cNvSpPr/>
          <p:nvPr/>
        </p:nvSpPr>
        <p:spPr>
          <a:xfrm>
            <a:off x="1904996" y="2340481"/>
            <a:ext cx="4064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2E83BC-E1FA-B100-723B-77C546EBCFCE}"/>
              </a:ext>
            </a:extLst>
          </p:cNvPr>
          <p:cNvSpPr txBox="1"/>
          <p:nvPr/>
        </p:nvSpPr>
        <p:spPr>
          <a:xfrm>
            <a:off x="2196198" y="2448014"/>
            <a:ext cx="3911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10 declarative flows replace 1000+ lines of Apex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F1FA12-CA0B-6864-5ED0-D311B45DC1EF}"/>
              </a:ext>
            </a:extLst>
          </p:cNvPr>
          <p:cNvSpPr/>
          <p:nvPr/>
        </p:nvSpPr>
        <p:spPr>
          <a:xfrm>
            <a:off x="5975741" y="2340481"/>
            <a:ext cx="3810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BAB2F8-CD96-A7CE-A13F-954F51B185DD}"/>
              </a:ext>
            </a:extLst>
          </p:cNvPr>
          <p:cNvSpPr txBox="1"/>
          <p:nvPr/>
        </p:nvSpPr>
        <p:spPr>
          <a:xfrm>
            <a:off x="6107798" y="2395665"/>
            <a:ext cx="3657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Maintainable by admins; minimal code surface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C01FC7-6405-705E-1F70-D280BC9B4A41}"/>
              </a:ext>
            </a:extLst>
          </p:cNvPr>
          <p:cNvSpPr/>
          <p:nvPr/>
        </p:nvSpPr>
        <p:spPr>
          <a:xfrm>
            <a:off x="-6749" y="2886581"/>
            <a:ext cx="19050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4FFF52-5FD0-F7A7-4BE1-4BDBCA09A1B2}"/>
              </a:ext>
            </a:extLst>
          </p:cNvPr>
          <p:cNvSpPr txBox="1"/>
          <p:nvPr/>
        </p:nvSpPr>
        <p:spPr>
          <a:xfrm>
            <a:off x="76195" y="3024004"/>
            <a:ext cx="1752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Apex (Crypto API)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60FF02-2AA9-43BB-CBA3-77250D13893C}"/>
              </a:ext>
            </a:extLst>
          </p:cNvPr>
          <p:cNvSpPr/>
          <p:nvPr/>
        </p:nvSpPr>
        <p:spPr>
          <a:xfrm>
            <a:off x="1898251" y="2886581"/>
            <a:ext cx="40640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1E74B4-AA7B-3437-3982-29A560DDEE84}"/>
              </a:ext>
            </a:extLst>
          </p:cNvPr>
          <p:cNvSpPr txBox="1"/>
          <p:nvPr/>
        </p:nvSpPr>
        <p:spPr>
          <a:xfrm>
            <a:off x="2196198" y="3001004"/>
            <a:ext cx="3911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Only for security  </a:t>
            </a:r>
            <a:r>
              <a:rPr lang="en-US" sz="1200" dirty="0" err="1">
                <a:solidFill>
                  <a:srgbClr val="222222"/>
                </a:solidFill>
                <a:latin typeface="Calibri" panose="020F0502020204030204" pitchFamily="34" charset="0"/>
              </a:rPr>
              <a:t>OTPGenerator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A95744-A32D-1695-E5FC-C210A558200D}"/>
              </a:ext>
            </a:extLst>
          </p:cNvPr>
          <p:cNvSpPr/>
          <p:nvPr/>
        </p:nvSpPr>
        <p:spPr>
          <a:xfrm>
            <a:off x="5975741" y="2873881"/>
            <a:ext cx="38100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F6FC72-1F41-2255-3A56-9CA135B52184}"/>
              </a:ext>
            </a:extLst>
          </p:cNvPr>
          <p:cNvSpPr txBox="1"/>
          <p:nvPr/>
        </p:nvSpPr>
        <p:spPr>
          <a:xfrm>
            <a:off x="6121398" y="3001004"/>
            <a:ext cx="3657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Bank-grade randomness; tested with 4 unit tests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8C75E8-F66D-3BF2-C2C6-ED4E4EC49FD7}"/>
              </a:ext>
            </a:extLst>
          </p:cNvPr>
          <p:cNvSpPr/>
          <p:nvPr/>
        </p:nvSpPr>
        <p:spPr>
          <a:xfrm>
            <a:off x="-6749" y="3441644"/>
            <a:ext cx="1905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480BE3-E980-9D11-89F0-DB3CAA62E848}"/>
              </a:ext>
            </a:extLst>
          </p:cNvPr>
          <p:cNvSpPr txBox="1"/>
          <p:nvPr/>
        </p:nvSpPr>
        <p:spPr>
          <a:xfrm>
            <a:off x="76195" y="3524756"/>
            <a:ext cx="1752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Digital Engagement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70B9BF-26FC-BC03-0FE3-644DA15F60AA}"/>
              </a:ext>
            </a:extLst>
          </p:cNvPr>
          <p:cNvSpPr/>
          <p:nvPr/>
        </p:nvSpPr>
        <p:spPr>
          <a:xfrm>
            <a:off x="1904990" y="3432934"/>
            <a:ext cx="4064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B607A1-1643-458D-4975-8C4C1B9F4B8C}"/>
              </a:ext>
            </a:extLst>
          </p:cNvPr>
          <p:cNvSpPr txBox="1"/>
          <p:nvPr/>
        </p:nvSpPr>
        <p:spPr>
          <a:xfrm>
            <a:off x="2189457" y="3525774"/>
            <a:ext cx="3911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Single channel reused by 4 templates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14DEA-B879-FC5B-0615-5D1D30B0D7C1}"/>
              </a:ext>
            </a:extLst>
          </p:cNvPr>
          <p:cNvSpPr/>
          <p:nvPr/>
        </p:nvSpPr>
        <p:spPr>
          <a:xfrm>
            <a:off x="5975729" y="3431646"/>
            <a:ext cx="3810000" cy="533400"/>
          </a:xfrm>
          <a:prstGeom prst="rect">
            <a:avLst/>
          </a:prstGeom>
          <a:solidFill>
            <a:srgbClr val="F8F4F0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E69974-9E32-23AE-6DD9-703B80265052}"/>
              </a:ext>
            </a:extLst>
          </p:cNvPr>
          <p:cNvSpPr txBox="1"/>
          <p:nvPr/>
        </p:nvSpPr>
        <p:spPr>
          <a:xfrm>
            <a:off x="6121398" y="3488847"/>
            <a:ext cx="3657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OTP, booking, cancel, reschedule via one connector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9F0FD1-7758-F851-580E-32EB061411FD}"/>
              </a:ext>
            </a:extLst>
          </p:cNvPr>
          <p:cNvSpPr/>
          <p:nvPr/>
        </p:nvSpPr>
        <p:spPr>
          <a:xfrm>
            <a:off x="0" y="3987997"/>
            <a:ext cx="19050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0193F6-DB05-EE54-A3F5-46C7E58DCAEB}"/>
              </a:ext>
            </a:extLst>
          </p:cNvPr>
          <p:cNvSpPr txBox="1"/>
          <p:nvPr/>
        </p:nvSpPr>
        <p:spPr>
          <a:xfrm>
            <a:off x="76195" y="4082038"/>
            <a:ext cx="1752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SFDX + Source Control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C0DA37A-DDF1-8A60-64A2-A0E462A311B2}"/>
              </a:ext>
            </a:extLst>
          </p:cNvPr>
          <p:cNvSpPr/>
          <p:nvPr/>
        </p:nvSpPr>
        <p:spPr>
          <a:xfrm>
            <a:off x="1911749" y="3986283"/>
            <a:ext cx="40640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DAE861-2F5A-D66E-136B-4092FF892916}"/>
              </a:ext>
            </a:extLst>
          </p:cNvPr>
          <p:cNvSpPr txBox="1"/>
          <p:nvPr/>
        </p:nvSpPr>
        <p:spPr>
          <a:xfrm>
            <a:off x="2196198" y="4057886"/>
            <a:ext cx="3911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 dirty="0">
                <a:solidFill>
                  <a:srgbClr val="222222"/>
                </a:solidFill>
                <a:latin typeface="Calibri" panose="020F0502020204030204" pitchFamily="34" charset="0"/>
              </a:rPr>
              <a:t>All metadata deployed from Git in 1 command</a:t>
            </a:r>
            <a:endParaRPr lang="en-IN" sz="12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B935536-09F8-1E55-4DE5-805AF3DC1838}"/>
              </a:ext>
            </a:extLst>
          </p:cNvPr>
          <p:cNvSpPr/>
          <p:nvPr/>
        </p:nvSpPr>
        <p:spPr>
          <a:xfrm>
            <a:off x="6001984" y="3975044"/>
            <a:ext cx="3783745" cy="5334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F9E604-BC9F-DD70-6EE4-8A817DA27772}"/>
              </a:ext>
            </a:extLst>
          </p:cNvPr>
          <p:cNvSpPr txBox="1"/>
          <p:nvPr/>
        </p:nvSpPr>
        <p:spPr>
          <a:xfrm>
            <a:off x="6107800" y="4042281"/>
            <a:ext cx="3657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 dirty="0">
                <a:solidFill>
                  <a:srgbClr val="222222"/>
                </a:solidFill>
                <a:latin typeface="Calibri" panose="020F0502020204030204" pitchFamily="34" charset="0"/>
              </a:rPr>
              <a:t>Repeatable, reviewable, rollback-safe builds</a:t>
            </a:r>
          </a:p>
        </p:txBody>
      </p:sp>
    </p:spTree>
    <p:extLst>
      <p:ext uri="{BB962C8B-B14F-4D97-AF65-F5344CB8AC3E}">
        <p14:creationId xmlns:p14="http://schemas.microsoft.com/office/powerpoint/2010/main" val="19571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9ED513-9CF9-402D-A85F-EE864904531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59ADA4-C808-3E49-7F46-433813E913AD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318AC5-1E4D-D1D7-14E2-F118A8232222}"/>
              </a:ext>
            </a:extLst>
          </p:cNvPr>
          <p:cNvSpPr txBox="1"/>
          <p:nvPr/>
        </p:nvSpPr>
        <p:spPr>
          <a:xfrm>
            <a:off x="508000" y="152400"/>
            <a:ext cx="8128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FFFFFF"/>
                </a:solidFill>
                <a:latin typeface="Calibri" panose="020F0502020204030204" pitchFamily="34" charset="0"/>
              </a:rPr>
              <a:t>Advantages &amp; What We Improved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C3832-A2D7-217D-997A-1E4880DA1611}"/>
              </a:ext>
            </a:extLst>
          </p:cNvPr>
          <p:cNvSpPr txBox="1"/>
          <p:nvPr/>
        </p:nvSpPr>
        <p:spPr>
          <a:xfrm>
            <a:off x="508000" y="1016000"/>
            <a:ext cx="3937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6BB900"/>
                </a:solidFill>
                <a:latin typeface="Calibri" panose="020F0502020204030204" pitchFamily="34" charset="0"/>
              </a:rPr>
              <a:t>Agent Advantages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F5E07-3ABE-C5B6-61AF-55A43FF299F3}"/>
              </a:ext>
            </a:extLst>
          </p:cNvPr>
          <p:cNvSpPr txBox="1"/>
          <p:nvPr/>
        </p:nvSpPr>
        <p:spPr>
          <a:xfrm>
            <a:off x="508000" y="1460500"/>
            <a:ext cx="3937000" cy="31981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End-to-end booking on WhatsApp in under 2 minutes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OTP-secured: identity verified before any record write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Self-service cancel and reschedule at zero call-centre load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Personalised vehicle quiz removes choice paralysis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Real-time dealer Task notifications eliminate manual handoffs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IN" sz="1400" dirty="0">
                <a:solidFill>
                  <a:srgbClr val="222222"/>
                </a:solidFill>
                <a:latin typeface="Calibri" panose="020F0502020204030204" pitchFamily="34" charset="0"/>
              </a:rPr>
              <a:t>Industry-cloud-native  no parallel data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DF3C5-6707-0ECA-105E-C389E026F033}"/>
              </a:ext>
            </a:extLst>
          </p:cNvPr>
          <p:cNvSpPr txBox="1"/>
          <p:nvPr/>
        </p:nvSpPr>
        <p:spPr>
          <a:xfrm>
            <a:off x="4699000" y="1016000"/>
            <a:ext cx="3937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2828C6"/>
                </a:solidFill>
                <a:latin typeface="Calibri" panose="020F0502020204030204" pitchFamily="34" charset="0"/>
              </a:rPr>
              <a:t>Issues We Solved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B0B41-F681-DC24-3FF5-3E982FA6AF51}"/>
              </a:ext>
            </a:extLst>
          </p:cNvPr>
          <p:cNvSpPr txBox="1"/>
          <p:nvPr/>
        </p:nvSpPr>
        <p:spPr>
          <a:xfrm>
            <a:off x="4699000" y="1460500"/>
            <a:ext cx="3937000" cy="3198120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Switched action output from </a:t>
            </a:r>
            <a:r>
              <a:rPr lang="en-US" sz="1400" dirty="0" err="1">
                <a:solidFill>
                  <a:srgbClr val="222222"/>
                </a:solidFill>
                <a:latin typeface="Calibri" panose="020F0502020204030204" pitchFamily="34" charset="0"/>
              </a:rPr>
              <a:t>SObject</a:t>
            </a: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 collection to formatted text  LLM now reads it reliably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Wrapped picklist fields in TEXT() formulas to bypass Flow formula picklist restriction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Field-Level Security: dedicated permission set for agent runtime user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Topic scopes tightened no cross-topic activation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Disabled the default Knowledge action flows fire instead</a:t>
            </a:r>
          </a:p>
          <a:p>
            <a:pPr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anose="020F0502020204030204" pitchFamily="34" charset="0"/>
              </a:rPr>
              <a:t>Deactivate-Reactivate pattern after every flow redeploy</a:t>
            </a:r>
            <a:endParaRPr lang="en-IN" sz="1400" dirty="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373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218690-7AAB-D1C5-82E5-5EB91953BA0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F3D8E-59D7-766B-199E-5E938CB61854}"/>
              </a:ext>
            </a:extLst>
          </p:cNvPr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E5DEA5-629B-B71A-4574-9AAD19D74504}"/>
              </a:ext>
            </a:extLst>
          </p:cNvPr>
          <p:cNvSpPr txBox="1"/>
          <p:nvPr/>
        </p:nvSpPr>
        <p:spPr>
          <a:xfrm>
            <a:off x="508000" y="152400"/>
            <a:ext cx="8128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Calibri" panose="020F0502020204030204" pitchFamily="34" charset="0"/>
              </a:rPr>
              <a:t>If We Had More Time â€” Roadmap</a:t>
            </a:r>
            <a:endParaRPr lang="en-IN" sz="2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4DF19-458A-EE9F-77D6-CA708A372635}"/>
              </a:ext>
            </a:extLst>
          </p:cNvPr>
          <p:cNvSpPr/>
          <p:nvPr/>
        </p:nvSpPr>
        <p:spPr>
          <a:xfrm>
            <a:off x="508000" y="1143000"/>
            <a:ext cx="2540000" cy="165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EC878-E494-CB08-52D1-191ADCADBEC4}"/>
              </a:ext>
            </a:extLst>
          </p:cNvPr>
          <p:cNvSpPr/>
          <p:nvPr/>
        </p:nvSpPr>
        <p:spPr>
          <a:xfrm>
            <a:off x="508000" y="1143000"/>
            <a:ext cx="76200" cy="1651000"/>
          </a:xfrm>
          <a:prstGeom prst="rect">
            <a:avLst/>
          </a:prstGeom>
          <a:solidFill>
            <a:srgbClr val="6BB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18FD4-6D0E-1786-807F-F3FA639A9D20}"/>
              </a:ext>
            </a:extLst>
          </p:cNvPr>
          <p:cNvSpPr txBox="1"/>
          <p:nvPr/>
        </p:nvSpPr>
        <p:spPr>
          <a:xfrm>
            <a:off x="685800" y="1244600"/>
            <a:ext cx="22352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0070CC"/>
                </a:solidFill>
                <a:latin typeface="Calibri" panose="020F0502020204030204" pitchFamily="34" charset="0"/>
              </a:rPr>
              <a:t>WhatsApp Native Catalog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3B02F-0A59-38D8-C082-0E44EA0F218F}"/>
              </a:ext>
            </a:extLst>
          </p:cNvPr>
          <p:cNvSpPr txBox="1"/>
          <p:nvPr/>
        </p:nvSpPr>
        <p:spPr>
          <a:xfrm>
            <a:off x="685800" y="1676400"/>
            <a:ext cx="2235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Calibri" panose="020F0502020204030204" pitchFamily="34" charset="0"/>
              </a:rPr>
              <a:t>Send rich vehicle cards with one-tap "Book" buttons via Meta Catalog API. Zero typing.</a:t>
            </a:r>
            <a:endParaRPr lang="en-IN" sz="12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5707EB-D36F-E2FC-D410-0D4E34E72008}"/>
              </a:ext>
            </a:extLst>
          </p:cNvPr>
          <p:cNvSpPr/>
          <p:nvPr/>
        </p:nvSpPr>
        <p:spPr>
          <a:xfrm>
            <a:off x="3302000" y="1143000"/>
            <a:ext cx="2540000" cy="165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1F1646-C6B2-4C4D-DC67-A583931F6831}"/>
              </a:ext>
            </a:extLst>
          </p:cNvPr>
          <p:cNvSpPr/>
          <p:nvPr/>
        </p:nvSpPr>
        <p:spPr>
          <a:xfrm>
            <a:off x="3302000" y="1143000"/>
            <a:ext cx="76200" cy="1651000"/>
          </a:xfrm>
          <a:prstGeom prst="rect">
            <a:avLst/>
          </a:prstGeom>
          <a:solidFill>
            <a:srgbClr val="6BB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C4ACA-3A02-F720-85D4-3C56804ED387}"/>
              </a:ext>
            </a:extLst>
          </p:cNvPr>
          <p:cNvSpPr txBox="1"/>
          <p:nvPr/>
        </p:nvSpPr>
        <p:spPr>
          <a:xfrm>
            <a:off x="3479800" y="1244600"/>
            <a:ext cx="22352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0070CC"/>
                </a:solidFill>
                <a:latin typeface="Calibri" panose="020F0502020204030204" pitchFamily="34" charset="0"/>
              </a:rPr>
              <a:t>Live Social Proof Injection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23CD1-DE39-A4B4-61C1-6E0436F8A879}"/>
              </a:ext>
            </a:extLst>
          </p:cNvPr>
          <p:cNvSpPr txBox="1"/>
          <p:nvPr/>
        </p:nvSpPr>
        <p:spPr>
          <a:xfrm>
            <a:off x="3479800" y="1676400"/>
            <a:ext cx="2235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Calibri" panose="020F0502020204030204" pitchFamily="34" charset="0"/>
              </a:rPr>
              <a:t>Real-time SOQL aggregates feed FOMO into the conversation: "47 X1 bookings near you this month."</a:t>
            </a:r>
            <a:endParaRPr lang="en-IN" sz="12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2E5D14-4C93-AF78-73FC-D32735C3D1E5}"/>
              </a:ext>
            </a:extLst>
          </p:cNvPr>
          <p:cNvSpPr/>
          <p:nvPr/>
        </p:nvSpPr>
        <p:spPr>
          <a:xfrm>
            <a:off x="6096000" y="1143000"/>
            <a:ext cx="2540000" cy="165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CE5C31-A0CB-A835-88FD-0223DB49833A}"/>
              </a:ext>
            </a:extLst>
          </p:cNvPr>
          <p:cNvSpPr/>
          <p:nvPr/>
        </p:nvSpPr>
        <p:spPr>
          <a:xfrm>
            <a:off x="6096000" y="1143000"/>
            <a:ext cx="76200" cy="1651000"/>
          </a:xfrm>
          <a:prstGeom prst="rect">
            <a:avLst/>
          </a:prstGeom>
          <a:solidFill>
            <a:srgbClr val="6BB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7D8E8B-C233-DBCE-DD3C-2B2184C670A5}"/>
              </a:ext>
            </a:extLst>
          </p:cNvPr>
          <p:cNvSpPr txBox="1"/>
          <p:nvPr/>
        </p:nvSpPr>
        <p:spPr>
          <a:xfrm>
            <a:off x="6273800" y="1244600"/>
            <a:ext cx="22352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0070CC"/>
                </a:solidFill>
                <a:latin typeface="Calibri" panose="020F0502020204030204" pitchFamily="34" charset="0"/>
              </a:rPr>
              <a:t>Abandoned Conversation Recovery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21158F-6683-10D6-E9E4-8102475E5297}"/>
              </a:ext>
            </a:extLst>
          </p:cNvPr>
          <p:cNvSpPr txBox="1"/>
          <p:nvPr/>
        </p:nvSpPr>
        <p:spPr>
          <a:xfrm>
            <a:off x="6273800" y="1676400"/>
            <a:ext cx="2235200" cy="789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Calibri" panose="020F0502020204030204" pitchFamily="34" charset="0"/>
              </a:rPr>
              <a:t>Scheduled flow auto-nudges drop-offs in 1 hour via WhatsApp template â€” recovers 60%+ of lost leads.</a:t>
            </a:r>
            <a:endParaRPr lang="en-IN" sz="12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F3B7D0-D5F7-0266-7253-70E88172E7C1}"/>
              </a:ext>
            </a:extLst>
          </p:cNvPr>
          <p:cNvSpPr/>
          <p:nvPr/>
        </p:nvSpPr>
        <p:spPr>
          <a:xfrm>
            <a:off x="508000" y="3048000"/>
            <a:ext cx="2540000" cy="165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6AA313-405D-0EF4-CF99-389CC221B981}"/>
              </a:ext>
            </a:extLst>
          </p:cNvPr>
          <p:cNvSpPr/>
          <p:nvPr/>
        </p:nvSpPr>
        <p:spPr>
          <a:xfrm>
            <a:off x="508000" y="3048000"/>
            <a:ext cx="76200" cy="1651000"/>
          </a:xfrm>
          <a:prstGeom prst="rect">
            <a:avLst/>
          </a:prstGeom>
          <a:solidFill>
            <a:srgbClr val="6BB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340BE1-B249-E99F-6D6D-CA0C6A8B09AB}"/>
              </a:ext>
            </a:extLst>
          </p:cNvPr>
          <p:cNvSpPr txBox="1"/>
          <p:nvPr/>
        </p:nvSpPr>
        <p:spPr>
          <a:xfrm>
            <a:off x="685800" y="3149600"/>
            <a:ext cx="2235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0070CC"/>
                </a:solidFill>
                <a:latin typeface="Calibri" panose="020F0502020204030204" pitchFamily="34" charset="0"/>
              </a:rPr>
              <a:t>Live Location Routing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7688E9-0160-6007-F39B-58E789A021DA}"/>
              </a:ext>
            </a:extLst>
          </p:cNvPr>
          <p:cNvSpPr txBox="1"/>
          <p:nvPr/>
        </p:nvSpPr>
        <p:spPr>
          <a:xfrm>
            <a:off x="685800" y="3581400"/>
            <a:ext cx="2235200" cy="789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Calibri" panose="020F0502020204030204" pitchFamily="34" charset="0"/>
              </a:rPr>
              <a:t>Replace ZIP code with WhatsApp Location share + Google Maps reverse geocoding for pinpoint dealer match.</a:t>
            </a:r>
            <a:endParaRPr lang="en-IN" sz="12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C3BC9A-1D90-C342-170E-4E6A1445DFF7}"/>
              </a:ext>
            </a:extLst>
          </p:cNvPr>
          <p:cNvSpPr/>
          <p:nvPr/>
        </p:nvSpPr>
        <p:spPr>
          <a:xfrm>
            <a:off x="3302000" y="3048000"/>
            <a:ext cx="2540000" cy="165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406670-9624-8236-3199-CA7318179605}"/>
              </a:ext>
            </a:extLst>
          </p:cNvPr>
          <p:cNvSpPr/>
          <p:nvPr/>
        </p:nvSpPr>
        <p:spPr>
          <a:xfrm>
            <a:off x="3302000" y="3048000"/>
            <a:ext cx="76200" cy="1651000"/>
          </a:xfrm>
          <a:prstGeom prst="rect">
            <a:avLst/>
          </a:prstGeom>
          <a:solidFill>
            <a:srgbClr val="6BB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233568-2EEE-AE48-A0E2-4524A174B95C}"/>
              </a:ext>
            </a:extLst>
          </p:cNvPr>
          <p:cNvSpPr txBox="1"/>
          <p:nvPr/>
        </p:nvSpPr>
        <p:spPr>
          <a:xfrm>
            <a:off x="3479800" y="3149600"/>
            <a:ext cx="22352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0070CC"/>
                </a:solidFill>
                <a:latin typeface="Calibri" panose="020F0502020204030204" pitchFamily="34" charset="0"/>
              </a:rPr>
              <a:t>Digital Booking Pass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7DB911-9FC4-C360-13B6-BBB2091A6AF2}"/>
              </a:ext>
            </a:extLst>
          </p:cNvPr>
          <p:cNvSpPr txBox="1"/>
          <p:nvPr/>
        </p:nvSpPr>
        <p:spPr>
          <a:xfrm>
            <a:off x="3479800" y="3581400"/>
            <a:ext cx="2235200" cy="789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Calibri" panose="020F0502020204030204" pitchFamily="34" charset="0"/>
              </a:rPr>
              <a:t>Branded Experience Cloud page with QR code instead of plain text confirmation. Adds to Apple/Google Wallet.</a:t>
            </a:r>
            <a:endParaRPr lang="en-IN" sz="12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407ECF-AAA3-2CA6-3EA7-28BEDFEAF5DF}"/>
              </a:ext>
            </a:extLst>
          </p:cNvPr>
          <p:cNvSpPr/>
          <p:nvPr/>
        </p:nvSpPr>
        <p:spPr>
          <a:xfrm>
            <a:off x="6096000" y="3048000"/>
            <a:ext cx="2540000" cy="1651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5DF65E-3103-B517-2261-2EF376454CE3}"/>
              </a:ext>
            </a:extLst>
          </p:cNvPr>
          <p:cNvSpPr/>
          <p:nvPr/>
        </p:nvSpPr>
        <p:spPr>
          <a:xfrm>
            <a:off x="6096000" y="3048000"/>
            <a:ext cx="76200" cy="1651000"/>
          </a:xfrm>
          <a:prstGeom prst="rect">
            <a:avLst/>
          </a:prstGeom>
          <a:solidFill>
            <a:srgbClr val="6BB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045495-1D74-4154-21B4-B193262AB4FA}"/>
              </a:ext>
            </a:extLst>
          </p:cNvPr>
          <p:cNvSpPr txBox="1"/>
          <p:nvPr/>
        </p:nvSpPr>
        <p:spPr>
          <a:xfrm>
            <a:off x="6273800" y="3149600"/>
            <a:ext cx="22352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0070CC"/>
                </a:solidFill>
                <a:latin typeface="Calibri" panose="020F0502020204030204" pitchFamily="34" charset="0"/>
              </a:rPr>
              <a:t>Data Cloud Personalisation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9F953F-204D-9F6A-4BC3-5045DE972E02}"/>
              </a:ext>
            </a:extLst>
          </p:cNvPr>
          <p:cNvSpPr txBox="1"/>
          <p:nvPr/>
        </p:nvSpPr>
        <p:spPr>
          <a:xfrm>
            <a:off x="6273800" y="3581400"/>
            <a:ext cx="22352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Calibri" panose="020F0502020204030204" pitchFamily="34" charset="0"/>
              </a:rPr>
              <a:t>Recognise return visitors, pre-populate with last vehicle viewed, segment-driven incentives.</a:t>
            </a:r>
            <a:endParaRPr lang="en-IN" sz="1200">
              <a:solidFill>
                <a:srgbClr val="22222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60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98FBDF-9315-D5B0-DBF5-532EED508D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1A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D5DE76-39CF-2F1C-86E2-72BD2DE9932E}"/>
              </a:ext>
            </a:extLst>
          </p:cNvPr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70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E4414E-34CA-6857-1EF9-F89F4605058F}"/>
              </a:ext>
            </a:extLst>
          </p:cNvPr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6BB9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B343A3-A946-A29F-4D5F-ECEC51DBFC40}"/>
              </a:ext>
            </a:extLst>
          </p:cNvPr>
          <p:cNvSpPr txBox="1"/>
          <p:nvPr/>
        </p:nvSpPr>
        <p:spPr>
          <a:xfrm>
            <a:off x="762000" y="1270000"/>
            <a:ext cx="7620000" cy="115929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Calibri" panose="020F0502020204030204" pitchFamily="34" charset="0"/>
              </a:rPr>
              <a:t>From 1% Conversion to 2-Minute Bookings</a:t>
            </a:r>
            <a:endParaRPr lang="en-IN" sz="3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67783-87F9-ED2F-35D0-DC058EF1E04C}"/>
              </a:ext>
            </a:extLst>
          </p:cNvPr>
          <p:cNvSpPr txBox="1"/>
          <p:nvPr/>
        </p:nvSpPr>
        <p:spPr>
          <a:xfrm>
            <a:off x="762000" y="2222500"/>
            <a:ext cx="7620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6BB900"/>
                </a:solidFill>
                <a:latin typeface="Calibri" panose="020F0502020204030204" pitchFamily="34" charset="0"/>
              </a:rPr>
              <a:t>Built on the Salesforce platform you already own</a:t>
            </a:r>
            <a:endParaRPr lang="en-IN" sz="2200" b="1">
              <a:solidFill>
                <a:srgbClr val="6BB9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8EC15F-1B8A-DEA1-B6F2-A4EAF37704F8}"/>
              </a:ext>
            </a:extLst>
          </p:cNvPr>
          <p:cNvSpPr/>
          <p:nvPr/>
        </p:nvSpPr>
        <p:spPr>
          <a:xfrm>
            <a:off x="444500" y="3048000"/>
            <a:ext cx="1778000" cy="1397000"/>
          </a:xfrm>
          <a:prstGeom prst="rect">
            <a:avLst/>
          </a:prstGeom>
          <a:solidFill>
            <a:srgbClr val="442C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BE976-8167-EB7A-4C6D-43933FABF4D5}"/>
              </a:ext>
            </a:extLst>
          </p:cNvPr>
          <p:cNvSpPr txBox="1"/>
          <p:nvPr/>
        </p:nvSpPr>
        <p:spPr>
          <a:xfrm>
            <a:off x="444500" y="3225800"/>
            <a:ext cx="1778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3600" b="1">
                <a:solidFill>
                  <a:srgbClr val="6BB900"/>
                </a:solidFill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907B4-831B-F482-90A4-4CF549764A07}"/>
              </a:ext>
            </a:extLst>
          </p:cNvPr>
          <p:cNvSpPr txBox="1"/>
          <p:nvPr/>
        </p:nvSpPr>
        <p:spPr>
          <a:xfrm>
            <a:off x="444500" y="3937000"/>
            <a:ext cx="177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400">
                <a:solidFill>
                  <a:srgbClr val="CCCCCC"/>
                </a:solidFill>
                <a:latin typeface="Calibri" panose="020F0502020204030204" pitchFamily="34" charset="0"/>
              </a:rPr>
              <a:t>Flows Built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7E7C1-3EBD-C375-49A0-E42A07738920}"/>
              </a:ext>
            </a:extLst>
          </p:cNvPr>
          <p:cNvSpPr/>
          <p:nvPr/>
        </p:nvSpPr>
        <p:spPr>
          <a:xfrm>
            <a:off x="2603500" y="3048000"/>
            <a:ext cx="1778000" cy="1397000"/>
          </a:xfrm>
          <a:prstGeom prst="rect">
            <a:avLst/>
          </a:prstGeom>
          <a:solidFill>
            <a:srgbClr val="442C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E98CB4-F39E-E184-9DF0-C5F914196A6D}"/>
              </a:ext>
            </a:extLst>
          </p:cNvPr>
          <p:cNvSpPr txBox="1"/>
          <p:nvPr/>
        </p:nvSpPr>
        <p:spPr>
          <a:xfrm>
            <a:off x="2603500" y="3225800"/>
            <a:ext cx="1778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3600" b="1">
                <a:solidFill>
                  <a:srgbClr val="6BB900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9DAEE-94AB-A40F-C7E5-523D2C738117}"/>
              </a:ext>
            </a:extLst>
          </p:cNvPr>
          <p:cNvSpPr txBox="1"/>
          <p:nvPr/>
        </p:nvSpPr>
        <p:spPr>
          <a:xfrm>
            <a:off x="2603500" y="3937000"/>
            <a:ext cx="177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400">
                <a:solidFill>
                  <a:srgbClr val="CCCCCC"/>
                </a:solidFill>
                <a:latin typeface="Calibri" panose="020F0502020204030204" pitchFamily="34" charset="0"/>
              </a:rPr>
              <a:t>Agent Topics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8765F5-58A7-1BC0-6C5F-B82AB10DE5E1}"/>
              </a:ext>
            </a:extLst>
          </p:cNvPr>
          <p:cNvSpPr/>
          <p:nvPr/>
        </p:nvSpPr>
        <p:spPr>
          <a:xfrm>
            <a:off x="4762500" y="3048000"/>
            <a:ext cx="1778000" cy="1397000"/>
          </a:xfrm>
          <a:prstGeom prst="rect">
            <a:avLst/>
          </a:prstGeom>
          <a:solidFill>
            <a:srgbClr val="442C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EDF0FD-2E1B-2513-525E-67238DBED5D1}"/>
              </a:ext>
            </a:extLst>
          </p:cNvPr>
          <p:cNvSpPr txBox="1"/>
          <p:nvPr/>
        </p:nvSpPr>
        <p:spPr>
          <a:xfrm>
            <a:off x="4762500" y="3225800"/>
            <a:ext cx="1778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3600" b="1">
                <a:solidFill>
                  <a:srgbClr val="6BB900"/>
                </a:solidFill>
                <a:latin typeface="Calibri" panose="020F0502020204030204" pitchFamily="34" charset="0"/>
              </a:rPr>
              <a:t>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212D09-E733-D87A-F6C9-12972B0C5A40}"/>
              </a:ext>
            </a:extLst>
          </p:cNvPr>
          <p:cNvSpPr txBox="1"/>
          <p:nvPr/>
        </p:nvSpPr>
        <p:spPr>
          <a:xfrm>
            <a:off x="4762500" y="3937000"/>
            <a:ext cx="177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400">
                <a:solidFill>
                  <a:srgbClr val="CCCCCC"/>
                </a:solidFill>
                <a:latin typeface="Calibri" panose="020F0502020204030204" pitchFamily="34" charset="0"/>
              </a:rPr>
              <a:t>Custom Fields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B63EE2-635C-A904-B787-D41AA974B095}"/>
              </a:ext>
            </a:extLst>
          </p:cNvPr>
          <p:cNvSpPr/>
          <p:nvPr/>
        </p:nvSpPr>
        <p:spPr>
          <a:xfrm>
            <a:off x="6921500" y="3048000"/>
            <a:ext cx="1778000" cy="1397000"/>
          </a:xfrm>
          <a:prstGeom prst="rect">
            <a:avLst/>
          </a:prstGeom>
          <a:solidFill>
            <a:srgbClr val="442C2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3DBEF6-89A8-594F-E856-495593F57FA6}"/>
              </a:ext>
            </a:extLst>
          </p:cNvPr>
          <p:cNvSpPr txBox="1"/>
          <p:nvPr/>
        </p:nvSpPr>
        <p:spPr>
          <a:xfrm>
            <a:off x="6921500" y="3225800"/>
            <a:ext cx="1778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3600" b="1">
                <a:solidFill>
                  <a:srgbClr val="6BB900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F0CCA5-AF77-4584-06F1-4A84C87EBC30}"/>
              </a:ext>
            </a:extLst>
          </p:cNvPr>
          <p:cNvSpPr txBox="1"/>
          <p:nvPr/>
        </p:nvSpPr>
        <p:spPr>
          <a:xfrm>
            <a:off x="6921500" y="3937000"/>
            <a:ext cx="1778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400">
                <a:solidFill>
                  <a:srgbClr val="CCCCCC"/>
                </a:solidFill>
                <a:latin typeface="Calibri" panose="020F0502020204030204" pitchFamily="34" charset="0"/>
              </a:rPr>
              <a:t>Working Days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24F042-AFBC-7EF5-D3C9-4A01F09A5FB2}"/>
              </a:ext>
            </a:extLst>
          </p:cNvPr>
          <p:cNvSpPr txBox="1"/>
          <p:nvPr/>
        </p:nvSpPr>
        <p:spPr>
          <a:xfrm>
            <a:off x="700123" y="4550906"/>
            <a:ext cx="7620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 dirty="0">
                <a:solidFill>
                  <a:srgbClr val="999999"/>
                </a:solidFill>
                <a:latin typeface="Calibri" panose="020F0502020204030204" pitchFamily="34" charset="0"/>
              </a:rPr>
              <a:t>Electra Cars  |  Salesforce </a:t>
            </a:r>
            <a:r>
              <a:rPr lang="en-US" sz="1400" dirty="0" err="1">
                <a:solidFill>
                  <a:srgbClr val="999999"/>
                </a:solidFill>
                <a:latin typeface="Calibri" panose="020F0502020204030204" pitchFamily="34" charset="0"/>
              </a:rPr>
              <a:t>Agentforce</a:t>
            </a:r>
            <a:r>
              <a:rPr lang="en-US" sz="1400" dirty="0">
                <a:solidFill>
                  <a:srgbClr val="999999"/>
                </a:solidFill>
                <a:latin typeface="Calibri" panose="020F0502020204030204" pitchFamily="34" charset="0"/>
              </a:rPr>
              <a:t> Hackathon 2026</a:t>
            </a:r>
            <a:endParaRPr lang="en-IN" sz="1400" dirty="0">
              <a:solidFill>
                <a:srgbClr val="99999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192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601D-27AD-F637-CC9A-78FFFAB44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Thank You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F06B0-0438-49EA-50B6-647AD2E0D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0BD585-EA0B-16A1-720F-4DB90C607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0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706</Words>
  <Application>Microsoft Office PowerPoint</Application>
  <PresentationFormat>On-screen Show (16:9)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vamsi reddy</dc:creator>
  <cp:lastModifiedBy>vamsi reddy</cp:lastModifiedBy>
  <cp:revision>5</cp:revision>
  <dcterms:created xsi:type="dcterms:W3CDTF">2026-05-01T15:40:27Z</dcterms:created>
  <dcterms:modified xsi:type="dcterms:W3CDTF">2026-05-01T16:17:18Z</dcterms:modified>
</cp:coreProperties>
</file>