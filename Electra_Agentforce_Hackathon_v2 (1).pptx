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36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51CE-E723-A8AB-715D-7E9CCE8E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C7684-94B9-5138-162A-7FBB2B25D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D65C2-AB7A-EAF5-32ED-ED940C256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791EE-640D-952B-4F18-26047F74D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7A4C4-FD31-14B2-688D-C813F104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FDB07-6593-4113-7437-1A60A1D7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936A9-EE6A-A572-54F7-B6B0D6B43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61357-52F5-10D9-F167-D89F6B08D9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80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0E4D-ED47-14EB-7341-7B9B99D2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43915-EB0D-A725-399B-347DD13BA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C3586-C4BF-09E4-7D49-2971880F2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8A10D-F8F1-BDA4-00E4-CA0A05DE2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2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660196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Cars  ·  Agentforce Hackathon  ·  May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Salesforce Agentforce + Automotive Cloud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B24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12188952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ELECTRA CARS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 Agent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1% Web Form to a 60-Second WhatsApp Conversation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  ·  Automotive Cloud  ·  Digital Engagement (WhatsApp)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 Hackathon  ·  5-Minute Pitch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team </a:t>
            </a:r>
            <a:r>
              <a:rPr lang="en-US" sz="1400" dirty="0" err="1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smartAgentCrew</a:t>
            </a: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Cars website — high traffic, low conversion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 form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0712" y="11887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10712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10712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before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submit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18504" y="11887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254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18504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18504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callback delay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dealer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26296" y="11887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25400">
            <a:solidFill>
              <a:srgbClr val="1B24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226296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226296" y="2057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mid-form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avg.)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11155680" cy="4572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5440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9593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High Friction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field form before submission — most customers abandon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886200"/>
            <a:ext cx="5440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0" y="39593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Manual Bottlenecks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43434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Call-center chases customers for missing model/location/time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029200"/>
            <a:ext cx="5440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51023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Low Conversion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 in 100 visitors actually books a test drive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5029200"/>
            <a:ext cx="5440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09360" y="5102352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📭 No Self-Service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9360" y="54864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/ reschedule requires another phone call to dealer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Electra AI 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form with a 60-second AI-led conversation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029200" cy="5120640"/>
          </a:xfrm>
          <a:prstGeom prst="roundRect">
            <a:avLst>
              <a:gd name="adj" fmla="val 1818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AI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Test-Drive Concierge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46634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Powered by Einstein LLM — natural multi-turn chat💬 Native WhatsApp + Website Embedded Chat📍 Auto-routing to nearest dealer by ZIP🔐 OTP verification for every booking change🎯 AI Vehicle Matchmaker — 3-question quiz📲 Real-time WhatsApp confirmations🔁 End-to-end self-service: book / cancel / reschedule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1097280"/>
            <a:ext cx="5943600" cy="5120640"/>
          </a:xfrm>
          <a:prstGeom prst="roundRect">
            <a:avLst>
              <a:gd name="adj" fmla="val 1786"/>
            </a:avLst>
          </a:prstGeom>
          <a:solidFill>
            <a:srgbClr val="F4F7FB"/>
          </a:solidFill>
          <a:ln w="12700">
            <a:solidFill>
              <a:srgbClr val="5B67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Live Conversation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572768"/>
            <a:ext cx="5577840" cy="0"/>
          </a:xfrm>
          <a:prstGeom prst="line">
            <a:avLst/>
          </a:prstGeom>
          <a:noFill/>
          <a:ln w="12700">
            <a:solidFill>
              <a:srgbClr val="5B67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15200" y="169164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2BA84A"/>
          </a:solidFill>
          <a:ln w="127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0664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I'd like to test drive an Electra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313432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23591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Welcome! Let me find your perfect Electra…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935224"/>
            <a:ext cx="4206240" cy="877824"/>
          </a:xfrm>
          <a:prstGeom prst="roundRect">
            <a:avLst>
              <a:gd name="adj" fmla="val 5208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6480" y="2980944"/>
            <a:ext cx="40233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(320 mi range, 5 seats)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(sport, 4 seats)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(400 mi, 7 seats)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3886200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2BA84A"/>
          </a:solidFill>
          <a:ln w="127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0664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X1 please, Saturday 10 AM, 94105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4507992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26480" y="45537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OTP to verify your number…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5129784"/>
            <a:ext cx="4206240" cy="548640"/>
          </a:xfrm>
          <a:prstGeom prst="roundRect">
            <a:avLst>
              <a:gd name="adj" fmla="val 8333"/>
            </a:avLst>
          </a:prstGeom>
          <a:solidFill>
            <a:srgbClr val="2BA84A"/>
          </a:solidFill>
          <a:ln w="127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06640" y="51755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847291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5751576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0070D2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126480" y="579729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Booking TD-00423 confirmed 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Area Electra Motors. WhatsApp sent.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on Salesforce — minimal external dependencies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3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207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CHANNELS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 (Twilio + Meta)        🌐 Website Embedded Chat        📱 Future: SMS / Apple Business Chat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 —  Electra Test Drive Assistant  (Einstein LLM)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697480"/>
            <a:ext cx="2542032" cy="868680"/>
          </a:xfrm>
          <a:prstGeom prst="roundRect">
            <a:avLst>
              <a:gd name="adj" fmla="val 5263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73405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Test Drive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3008" y="2697480"/>
            <a:ext cx="2542032" cy="868680"/>
          </a:xfrm>
          <a:prstGeom prst="roundRect">
            <a:avLst>
              <a:gd name="adj" fmla="val 5263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38728" y="273405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Booking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8776" y="2697480"/>
            <a:ext cx="2542032" cy="868680"/>
          </a:xfrm>
          <a:prstGeom prst="roundRect">
            <a:avLst>
              <a:gd name="adj" fmla="val 526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54496" y="273405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24544" y="2697480"/>
            <a:ext cx="2542032" cy="868680"/>
          </a:xfrm>
          <a:prstGeom prst="roundRect">
            <a:avLst>
              <a:gd name="adj" fmla="val 5263"/>
            </a:avLst>
          </a:prstGeom>
          <a:solidFill>
            <a:srgbClr val="13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70264" y="2734056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Matchmaker Quiz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905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8587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ACTIONS  —  10 Autolaunched Flows + 1 Apex Class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GetVehicleModels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2608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97180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FindDealerByZip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6636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CreateBooking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6092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SendWhatsApp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09760" y="425196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55548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GenerateOTP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7724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ValidateOTP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7180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LookupTestDrive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16636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CancelTestDrive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36092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RescheduleDrive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09760" y="4754880"/>
            <a:ext cx="20574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555480" y="47548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 RecommendVehicle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4864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B24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31520" y="55504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CLOUD DATA LAYER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58704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VehicleDefinition  ·  Lead (+OTP fields)  ·  TestDrive__c  ·  Account (Dealer RT)  ·  Task (dealer notification)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 —  Concrete Deliverables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deployed, tested, and active in the org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 Test Drive Assistant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9272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19272" y="1234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9272" y="15727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9272" y="1993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Configured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2231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Cancel / Reschedule / Matchmaker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81344" y="1234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81344" y="15727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81344" y="1993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Action Flows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1344" y="2231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Autolaunched &amp; Active in org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43416" y="11887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043416" y="1234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43416" y="157276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43416" y="19933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Class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43416" y="223113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OTPGenerator (Crypto.getRandomInteger)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6517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3035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57200" y="34564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6941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Account, TestDrive, VehicleDefinition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19272" y="26517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19272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319272" y="3035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319272" y="34564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19272" y="36941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TestDrive__c (booking record)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26517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181344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📨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181344" y="3035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181344" y="34564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Templates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81344" y="36941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Confirm / Cancel / Reschedule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43416" y="265176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4F7FB"/>
          </a:solidFill>
          <a:ln w="1524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9043416" y="26974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043416" y="30358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043416" y="34564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Set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43416" y="3694176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Electra_Agent_Fields (FLS for runtime user)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206240"/>
            <a:ext cx="11247120" cy="2240280"/>
          </a:xfrm>
          <a:prstGeom prst="roundRect">
            <a:avLst>
              <a:gd name="adj" fmla="val 408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Build Story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080" y="4736592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0080" y="4736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463040" y="473659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21 custom fields, TestDrive__c object, VehicleDefinition seed data, Dealer record type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5065776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0080" y="50657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463040" y="506577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OTPGenerator Apex (cryptographically secure) + 4 WhatsApp templates submitted to Meta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5394960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0080" y="5394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463040" y="5394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Autolaunched Flows built and activated  —  GetVehicleModels through RecommendVehicle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0080" y="5724144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40080" y="572414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463040" y="572414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Agent + 4 Topics  —  Einstein LLM wired to all 10 actions; OTP gating enforced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" y="6053328"/>
            <a:ext cx="731520" cy="2743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40080" y="60533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463040" y="605332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test: Book → OTP → Confirm → Cancel → Reschedule  —  all under 60 seconds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Use of Salesforce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bought zero new tools — every capability already on the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532120" cy="45720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26187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🏎️ Automotive Cloud (used as-is)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5257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VehicleDefinition — vehicle catalog (no rebuild)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extended with 6 OTP + WhatsApp fields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/ Dealer record type — ZIP routing source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objects → 0 rebuild 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13C2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532120" cy="457200"/>
          </a:xfrm>
          <a:prstGeom prst="rect">
            <a:avLst/>
          </a:prstGeom>
          <a:solidFill>
            <a:srgbClr val="13C2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9360" y="126187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Agentforce + Einstein LLM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1737360"/>
            <a:ext cx="5257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Agent with 4 Topics (Book/Cancel/Reschedule/Match)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Flow-backed actions, 1 Apex 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LLM reasoning — no prompt engineering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scope expressions auto-route conversations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53212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395935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Flows + Apex (low-code first)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5257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actions delivered as Autolaunched Flows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Apex class (OTPGenerator) — security-critical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LWC, zero triggers — easy hand-off to admins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Subflows for shared logic (SendWhatsAppMessage)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886200"/>
            <a:ext cx="55321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254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532120" cy="4572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395935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Digital Engagement (WhatsApp)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4434840"/>
            <a:ext cx="5257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WhatsApp Channel via Twilio + Meta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pre-approved Meta templates (Auth + Utility)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Sessions = automatic audit trail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Service Chat reused on website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8CAA-229E-9B2E-FAAF-87E984358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C683F1-CFFA-8F60-23A9-4873151099BF}"/>
              </a:ext>
            </a:extLst>
          </p:cNvPr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9786B2-0856-891B-B7DA-C58139D73A39}"/>
              </a:ext>
            </a:extLst>
          </p:cNvPr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435531-DF00-C180-5562-55ABB5CFE565}"/>
              </a:ext>
            </a:extLst>
          </p:cNvPr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Use of Salesforce Platform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2F5490-433F-4DCE-EFB6-5F80CFBFF19D}"/>
              </a:ext>
            </a:extLst>
          </p:cNvPr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bought zero new tools — every capability already on the platform</a:t>
            </a:r>
            <a:endParaRPr lang="en-US" sz="13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BE6EF0-D874-961C-0F56-7CE1AC5BC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" y="822960"/>
            <a:ext cx="11955521" cy="569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736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5A87-F5A5-1516-89BF-E6A467D2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BE0F88-01B1-B3AD-C136-9587D17E4960}"/>
              </a:ext>
            </a:extLst>
          </p:cNvPr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5DC0A9-3D7F-66E1-2E1F-0D6BCD354CBE}"/>
              </a:ext>
            </a:extLst>
          </p:cNvPr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A53261-535C-3F9A-73AE-5F555E58DEC3}"/>
              </a:ext>
            </a:extLst>
          </p:cNvPr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Use of Salesforce Platform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5BF63A-FB6B-41C4-2A6C-2672205BA1DB}"/>
              </a:ext>
            </a:extLst>
          </p:cNvPr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bought zero new tools — every capability already on the platform</a:t>
            </a:r>
            <a:endParaRPr lang="en-US" sz="13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D5C224-13FB-305A-129E-AE4F461FA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" y="868680"/>
            <a:ext cx="11774366" cy="571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235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95D44-1D84-16C0-6BAD-5691A121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9D4E42-08F8-CB32-6DCF-BD6957817DBC}"/>
              </a:ext>
            </a:extLst>
          </p:cNvPr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B91053-6496-3436-5EB6-BBA86BC7EDFC}"/>
              </a:ext>
            </a:extLst>
          </p:cNvPr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8998DC-7E8B-5777-AB87-BF6855ECD59E}"/>
              </a:ext>
            </a:extLst>
          </p:cNvPr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Use of Salesforce Platform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10ABA4-87E4-C667-F209-423B6A60F17E}"/>
              </a:ext>
            </a:extLst>
          </p:cNvPr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bought zero new tools — every capability already on the platform</a:t>
            </a:r>
            <a:endParaRPr lang="en-US" sz="13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AD0C7E6-EA8F-331E-6875-EE044789E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" y="868680"/>
            <a:ext cx="11946895" cy="570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412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Snapshot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in the next 60 seconds of the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Greet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93976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39696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Choose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1296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30752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76472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Pick 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8072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67528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13248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ZIP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04304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050024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OTP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21624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0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Booked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0" y="1207008"/>
            <a:ext cx="274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77856" y="118872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323576" y="1207008"/>
            <a:ext cx="1417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WhatsApp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194560"/>
            <a:ext cx="3703320" cy="41605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254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7200" y="2194560"/>
            <a:ext cx="3703320" cy="54864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436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Lead Created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2880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Alex Chen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383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+1 415-555-0192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ZIP 94105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43891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WhatsApp_Opt_In = TRUE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892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OTP_Verified = TRUE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61688" y="2194560"/>
            <a:ext cx="3703320" cy="41605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254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361688" y="2194560"/>
            <a:ext cx="3703320" cy="54864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498848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🚙 TestDrive Booked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44568" y="2880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TD-00423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44568" y="3383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Electra X1 2025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44568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Apr 26, 10:00 AM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44568" y="43891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Status: Scheduled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44568" y="4892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Bay Area Electra Motors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266176" y="2194560"/>
            <a:ext cx="3703320" cy="41605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266176" y="2194560"/>
            <a:ext cx="3703320" cy="5486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403336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Dealer Notified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49056" y="28803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Task auto-created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449056" y="3383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Subject: New Test Drive Booked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449056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Priority: High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49056" y="43891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WhatId: Dealer Account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449056" y="48920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ActivityDate: booking date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 ·  Impact  ·  Differentiation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beats the legacy form — and every other hackathon entry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00" cy="5212080"/>
          </a:xfrm>
          <a:prstGeom prst="roundRect">
            <a:avLst>
              <a:gd name="adj" fmla="val 1754"/>
            </a:avLst>
          </a:prstGeom>
          <a:solidFill>
            <a:srgbClr val="F4F7FB"/>
          </a:solidFill>
          <a:ln w="254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Customer &amp; Business 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booking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5-minute web form  →  expect 10× conversion lift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self-service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700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&amp; reschedule with no human handoff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verified at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310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eliminates fake leads → cleaner CRM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 routing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950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lookup auto-assigns the right showroom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quiz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5902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Matchmaker recommends the right vehicle (FOMO + ownership psychology)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awareness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230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Auto-Task created → no missed bookings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623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audited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8704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Sessions log every WhatsApp message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5623560" cy="2468880"/>
          </a:xfrm>
          <a:prstGeom prst="roundRect">
            <a:avLst>
              <a:gd name="adj" fmla="val 3704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63640" y="12801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Projected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17373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263640" y="254203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 (1% → 10%)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17373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046720" y="254203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Time-to-book (5 min → 60 sec)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29800" y="17373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829800" y="2542032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Call-center workload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794760"/>
            <a:ext cx="56235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63640" y="3886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What Makes Us Different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3640" y="42976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Vehicle Matchmaker — turns indecision into ownership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468172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OTP across all 3 journeys — security-grade self-service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5065776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ZIP-based auto-routing — zero dealer-assignment overhead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5449824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Topic scope guards — prevents AI from going off-track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5833872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100% Salesforce-native — no external orchestration tools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We Made During the Hackathon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production-grade engineering — not just a happy 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issue below was discovered, root-caused, and fixed during build: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" y="17099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UNKNOWN_EXCEPTION calling GetVehicleModels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0391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Security blocked agent runtime 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169164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76672" y="170992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76672" y="203911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Electra_Agent_Fields permission set, assigned to all EinsteinServiceAgent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13232" y="24871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Flow returned null vehicle list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281635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VehicleDefinition records had blank custom fields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20640" y="246888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76672" y="24871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76672" y="281635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updated 3 records with full Use_Case, Seating, Feature, Description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3232" y="32644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Agent kept caching old flow version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5935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caches at activation, not runtime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120640" y="324612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76672" y="32644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359359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'Deactivate → Reactivate after every Flow redeploy' to runbook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3232" y="40416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Picklist field crashed Flow formula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437083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Picklists not allowed in raw formula expressions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120640" y="402336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376672" y="404164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437083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Use_Case__c &amp; Primary_Feature__c in TEXT() formula elements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13232" y="48188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SObject collection unreadable by LLM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" y="51480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Managed-package SObject lists serialise poorly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4965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120640" y="480060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76672" y="481888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76672" y="514807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to output a formatted Text summary (vehicleSummary)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577840"/>
            <a:ext cx="164592" cy="685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13232" y="55961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'Answer with Knowledge' hijacked queries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" y="59253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Service Agent action shadowed flow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5742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5120640" y="5577840"/>
            <a:ext cx="164592" cy="68580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376672" y="559612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 Applied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76672" y="592531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Knowledge action from all 4 topics; tightened topic scope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0"/>
            <a:ext cx="12024360" cy="86868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51560" y="91440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 —  With More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50292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90-day roadmap that doubles down on conversion + 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703320" cy="5212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2BA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703320" cy="548640"/>
          </a:xfrm>
          <a:prstGeom prst="rect">
            <a:avLst/>
          </a:prstGeom>
          <a:solidFill>
            <a:srgbClr val="2BA8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0-30 Days  ·  Quick Wins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Native Catalog — embed vehicle cards with 1-tap booking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Social Proof injection — '47 X1 bookings this month near you'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Conversation Recovery — auto-WhatsApp nudge in 30 min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Location Share — replace ZIP typing with WhatsApp GPS pin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Booking Pass — branded Experience Cloud page + QR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188720"/>
            <a:ext cx="3703320" cy="5212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0070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61688" y="1188720"/>
            <a:ext cx="3703320" cy="548640"/>
          </a:xfrm>
          <a:prstGeom prst="rect">
            <a:avLst/>
          </a:prstGeom>
          <a:solidFill>
            <a:srgbClr val="0070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98848" y="12435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Days  · 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182880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Cloud + Personalization API — return-visitor recognition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Incentive Engine — Einstein Next Best Action for offers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— Spanish, French, Mandarin via LLM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channel via Service Cloud Voice — same agent, phone calls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scheduling — Einstein recommends best slot per dealer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66176" y="1188720"/>
            <a:ext cx="3703320" cy="521208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66176" y="1188720"/>
            <a:ext cx="3703320" cy="5486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03336" y="12435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Days  ·  Scale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49056" y="182880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Reverse-geocoding via Named Credential (Google Maps API)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Business Chat + iMessage — premium channel coverage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 feedback survey loop — close the lead-to-CSAT cycle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connector — sync bookings with DMS / Dealer CRM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Analytics dashboard — conversion funnel + LLM cost tracking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1% form to a 60-second AI conversation 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3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Salesforce-native, ready to ship.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4167"/>
            </a:avLst>
          </a:prstGeom>
          <a:solidFill>
            <a:srgbClr val="1B2431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Pilot with 2 dealer regions for 60 days  —  measure conversion lift live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63600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Production WhatsApp + Meta Business Verification approval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502005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Salesforce Architect review of our Data Cloud + Personalization next phase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54041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Co-publish a customer success story with the Salesforce Industries team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1573</Words>
  <Application>Microsoft Office PowerPoint</Application>
  <PresentationFormat>Widescreen</PresentationFormat>
  <Paragraphs>295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Electra Cars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Electra Cars — Agentforce Hackathon</dc:title>
  <dc:subject>AI-Powered Test Drive Booking on Salesforce Agentforce + Automotive Cloud</dc:subject>
  <dc:creator>Electra Cars Build Team</dc:creator>
  <cp:lastModifiedBy>vamsi reddy</cp:lastModifiedBy>
  <cp:revision>4</cp:revision>
  <dcterms:created xsi:type="dcterms:W3CDTF">2026-05-01T16:26:14Z</dcterms:created>
  <dcterms:modified xsi:type="dcterms:W3CDTF">2026-05-04T08:19:54Z</dcterms:modified>
</cp:coreProperties>
</file>